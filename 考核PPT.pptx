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92" r:id="rId7"/>
    <p:sldId id="293" r:id="rId8"/>
    <p:sldId id="294" r:id="rId9"/>
    <p:sldId id="259" r:id="rId10"/>
    <p:sldId id="303" r:id="rId11"/>
    <p:sldId id="300" r:id="rId12"/>
    <p:sldId id="273" r:id="rId13"/>
    <p:sldId id="296" r:id="rId14"/>
    <p:sldId id="297" r:id="rId15"/>
    <p:sldId id="298" r:id="rId16"/>
    <p:sldId id="299" r:id="rId17"/>
    <p:sldId id="301" r:id="rId18"/>
    <p:sldId id="302" r:id="rId19"/>
    <p:sldId id="295" r:id="rId20"/>
  </p:sldIdLst>
  <p:sldSz cx="12192000" cy="6858000"/>
  <p:notesSz cx="6858000" cy="9144000"/>
  <p:embeddedFontLst>
    <p:embeddedFont>
      <p:font typeface="等线" panose="02010600030101010101" pitchFamily="2" charset="-122"/>
      <p:regular r:id="rId25"/>
    </p:embeddedFont>
    <p:embeddedFont>
      <p:font typeface="等线 Light" panose="02010600030101010101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楷体" panose="02010609060101010101" charset="-122"/>
      <p:regular r:id="rId3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mpeya 1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EEBF7"/>
    <a:srgbClr val="BDD7EE"/>
    <a:srgbClr val="7CBAD3"/>
    <a:srgbClr val="B4D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480" y="102"/>
      </p:cViewPr>
      <p:guideLst>
        <p:guide orient="horz" pos="209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我是南京航空航空航天大学的孟超凡，选取的是任务一。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接下来，我依次介绍实现过程、对论文的理解</a:t>
            </a:r>
            <a:r>
              <a:rPr lang="en-US" altLang="zh-CN"/>
              <a:t> </a:t>
            </a:r>
            <a:r>
              <a:rPr lang="zh-CN" altLang="en-US"/>
              <a:t>、遇到的问题与解决过程</a:t>
            </a:r>
            <a:r>
              <a:rPr lang="en-US" altLang="zh-CN"/>
              <a:t>  </a:t>
            </a:r>
            <a:r>
              <a:rPr lang="zh-CN" altLang="en-US"/>
              <a:t>，最后进入问答</a:t>
            </a:r>
            <a:r>
              <a:rPr lang="zh-CN" altLang="en-US"/>
              <a:t>环节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首先是实现</a:t>
            </a:r>
            <a:r>
              <a:rPr lang="zh-CN" altLang="en-US"/>
              <a:t>过程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首先是实现</a:t>
            </a:r>
            <a:r>
              <a:rPr lang="zh-CN" altLang="en-US"/>
              <a:t>过程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12700" indent="45085" algn="l" rtl="0" eaLnBrk="0" fontAlgn="auto">
              <a:lnSpc>
                <a:spcPct val="100000"/>
              </a:lnSpc>
              <a:spcBef>
                <a:spcPts val="1415"/>
              </a:spcBef>
            </a:pPr>
            <a:r>
              <a:rPr kern="0" spc="150" dirty="0">
                <a:solidFill>
                  <a:schemeClr val="tx1">
                    <a:alpha val="100000"/>
                  </a:schemeClr>
                </a:solidFill>
                <a:latin typeface="PingFang SC"/>
                <a:ea typeface="PingFang SC"/>
                <a:cs typeface="PingFang SC"/>
                <a:sym typeface="+mn-ea"/>
              </a:rPr>
              <a:t>原始图像像素到嵌</a:t>
            </a:r>
            <a:r>
              <a:rPr kern="0" spc="140" dirty="0">
                <a:solidFill>
                  <a:schemeClr val="tx1">
                    <a:alpha val="100000"/>
                  </a:schemeClr>
                </a:solidFill>
                <a:latin typeface="PingFang SC"/>
                <a:ea typeface="PingFang SC"/>
                <a:cs typeface="PingFang SC"/>
                <a:sym typeface="+mn-ea"/>
              </a:rPr>
              <a:t>入的</a:t>
            </a:r>
            <a:r>
              <a:rPr kern="0" spc="120" dirty="0">
                <a:solidFill>
                  <a:schemeClr val="tx1">
                    <a:alpha val="100000"/>
                  </a:schemeClr>
                </a:solidFill>
                <a:latin typeface="PingFang SC"/>
                <a:ea typeface="PingFang SC"/>
                <a:cs typeface="PingFang SC"/>
                <a:sym typeface="+mn-ea"/>
              </a:rPr>
              <a:t>映射是完全可微分的，</a:t>
            </a:r>
            <a:r>
              <a:rPr kern="0" spc="-300" dirty="0">
                <a:solidFill>
                  <a:schemeClr val="tx1">
                    <a:alpha val="100000"/>
                  </a:schemeClr>
                </a:solidFill>
                <a:latin typeface="PingFang SC"/>
                <a:ea typeface="PingFang SC"/>
                <a:cs typeface="PingFang SC"/>
                <a:sym typeface="+mn-ea"/>
              </a:rPr>
              <a:t> </a:t>
            </a:r>
            <a:r>
              <a:rPr kern="0" spc="120" dirty="0">
                <a:solidFill>
                  <a:schemeClr val="tx1">
                    <a:alpha val="100000"/>
                  </a:schemeClr>
                </a:solidFill>
                <a:latin typeface="PingFang SC"/>
                <a:ea typeface="PingFang SC"/>
                <a:cs typeface="PingFang SC"/>
                <a:sym typeface="+mn-ea"/>
              </a:rPr>
              <a:t>因此可以利用典型的对抗攻击方法。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我将该复现任务分成四个部分，分别是：数据处理、</a:t>
            </a:r>
            <a:r>
              <a:rPr lang="en-US" altLang="zh-CN"/>
              <a:t>TwoTower</a:t>
            </a:r>
            <a:r>
              <a:rPr lang="zh-CN" altLang="en-US"/>
              <a:t>的实现、</a:t>
            </a:r>
            <a:r>
              <a:rPr lang="en-US" altLang="zh-CN"/>
              <a:t>IntTower</a:t>
            </a:r>
            <a:r>
              <a:rPr lang="zh-CN" altLang="en-US"/>
              <a:t>的实现，最后综合完成</a:t>
            </a:r>
            <a:r>
              <a:rPr lang="zh-CN" altLang="en-US"/>
              <a:t>主控脚本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6FB6A-4531-4075-AE0E-75A872838235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B1F07-7763-43DC-BFA1-28625E3ED53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5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3" Type="http://schemas.openxmlformats.org/officeDocument/2006/relationships/notesSlide" Target="../notesSlides/notesSlide16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SVmode:HSV"/>
          <p:cNvSpPr txBox="1"/>
          <p:nvPr/>
        </p:nvSpPr>
        <p:spPr>
          <a:xfrm>
            <a:off x="3249747" y="-266700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/>
              </a:rPr>
              <a:t> 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/>
          <p:cNvSpPr/>
          <p:nvPr/>
        </p:nvSpPr>
        <p:spPr>
          <a:xfrm>
            <a:off x="272980" y="308163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文本占位符 4"/>
          <p:cNvSpPr txBox="1"/>
          <p:nvPr/>
        </p:nvSpPr>
        <p:spPr>
          <a:xfrm>
            <a:off x="565150" y="5887163"/>
            <a:ext cx="2228850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5" name="文本占位符 5"/>
          <p:cNvSpPr txBox="1"/>
          <p:nvPr/>
        </p:nvSpPr>
        <p:spPr>
          <a:xfrm>
            <a:off x="3249747" y="5887163"/>
            <a:ext cx="2433461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8" name="yanjiusheng"/>
          <p:cNvSpPr txBox="1"/>
          <p:nvPr/>
        </p:nvSpPr>
        <p:spPr>
          <a:xfrm>
            <a:off x="1524000" y="3301411"/>
            <a:ext cx="8894617" cy="769441"/>
          </a:xfrm>
          <a:prstGeom prst="rect">
            <a:avLst/>
          </a:prstGeom>
          <a:noFill/>
        </p:spPr>
        <p:txBody>
          <a:bodyPr wrap="none" rtlCol="0" anchor="ctr" anchorCtr="1">
            <a:normAutofit/>
          </a:bodyPr>
          <a:lstStyle/>
          <a:p>
            <a:pPr algn="dist"/>
            <a:r>
              <a:rPr lang="zh-CN" altLang="en-US" sz="4400" b="1" spc="300" dirty="0">
                <a:solidFill>
                  <a:srgbClr val="000000"/>
                </a:solidFill>
                <a:ea typeface="等线" panose="02010600030101010101" pitchFamily="2" charset="-122"/>
              </a:rPr>
              <a:t>多模态人工智能</a:t>
            </a:r>
            <a:r>
              <a:rPr lang="zh-CN" altLang="en-US" sz="4400" b="1" spc="300" dirty="0">
                <a:solidFill>
                  <a:srgbClr val="000000"/>
                </a:solidFill>
                <a:ea typeface="等线" panose="02010600030101010101" pitchFamily="2" charset="-122"/>
              </a:rPr>
              <a:t>安全</a:t>
            </a:r>
            <a:endParaRPr lang="zh-CN" altLang="en-US" sz="4400" b="1" spc="300" dirty="0">
              <a:solidFill>
                <a:srgbClr val="000000"/>
              </a:solidFill>
              <a:ea typeface="等线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95706" y="4693651"/>
            <a:ext cx="2000869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调研报告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dist"/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孟超凡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                                             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8" name="Picture 17" descr="77-南京航空航天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4300" y="874739"/>
            <a:ext cx="1803398" cy="1803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925267" y="959540"/>
            <a:ext cx="1713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altLang="zh-CN" sz="4800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8" name="图形 17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31" y="4402206"/>
            <a:ext cx="431219" cy="406809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1931081" y="434786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第三章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3649578" y="4347866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研究现状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1" name="图形 20"/>
          <p:cNvPicPr/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798" y="4429309"/>
            <a:ext cx="509090" cy="480272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7523305" y="440220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第四章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9302823" y="4402206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展望和思考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5" name="图形 14"/>
          <p:cNvPicPr/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798" y="2518602"/>
            <a:ext cx="509089" cy="480271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7523305" y="250207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第二章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9302823" y="2502071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论文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理解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形 11"/>
          <p:cNvPicPr/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6" y="2578778"/>
            <a:ext cx="477438" cy="450412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931081" y="25020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3649578" y="2502072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研究背景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638967" y="1364524"/>
            <a:ext cx="18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CONTENTS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0" y="224807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3140931"/>
            <a:ext cx="332465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研究背景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Picture 8" descr="77-南京航空航天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882" y="1922085"/>
            <a:ext cx="2851218" cy="28512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研究背景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985010" y="1597025"/>
            <a:ext cx="38176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前景提要</a:t>
            </a:r>
            <a:r>
              <a:rPr lang="en-US" altLang="zh-CN"/>
              <a:t>--</a:t>
            </a:r>
            <a:r>
              <a:rPr lang="zh-CN" altLang="en-US">
                <a:sym typeface="+mn-ea"/>
              </a:rPr>
              <a:t>如何实现多模态系统？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如语音助手、</a:t>
            </a:r>
            <a:r>
              <a:rPr lang="zh-CN" altLang="en-US"/>
              <a:t>直播数字人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使用多模态</a:t>
            </a:r>
            <a:r>
              <a:rPr lang="zh-CN" altLang="en-US"/>
              <a:t>模型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不使用多模态</a:t>
            </a:r>
            <a:r>
              <a:rPr lang="zh-CN" altLang="en-US"/>
              <a:t>模型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混合（</a:t>
            </a:r>
            <a:r>
              <a:rPr lang="zh-CN" altLang="en-US"/>
              <a:t>暂未发现有实际</a:t>
            </a:r>
            <a:r>
              <a:rPr lang="zh-CN" altLang="en-US"/>
              <a:t>使用）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研究背景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未命名绘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155" y="1313180"/>
            <a:ext cx="9486900" cy="2781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76800" y="3932555"/>
            <a:ext cx="4958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多模态模型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研究背景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20" y="1285240"/>
            <a:ext cx="5883910" cy="47872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52970" y="599440"/>
            <a:ext cx="4064000" cy="453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ym typeface="+mn-ea"/>
              </a:rPr>
              <a:t>这里有</a:t>
            </a:r>
            <a:r>
              <a:rPr lang="en-US" altLang="zh-CN" b="1">
                <a:sym typeface="+mn-ea"/>
              </a:rPr>
              <a:t>0</a:t>
            </a:r>
            <a:r>
              <a:rPr lang="zh-CN" altLang="en-US" b="1">
                <a:sym typeface="+mn-ea"/>
              </a:rPr>
              <a:t>个多模态模型</a:t>
            </a:r>
            <a:endParaRPr lang="zh-CN" altLang="en-US" b="1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Modality encoder</a:t>
            </a:r>
            <a:r>
              <a:rPr lang="zh-CN" altLang="en-US"/>
              <a:t>（模态</a:t>
            </a:r>
            <a:r>
              <a:rPr lang="zh-CN" altLang="en-US"/>
              <a:t>编码器）：</a:t>
            </a:r>
            <a:endParaRPr lang="zh-CN" altLang="en-US"/>
          </a:p>
          <a:p>
            <a:r>
              <a:rPr lang="zh-CN" altLang="en-US"/>
              <a:t>接收处理多模</a:t>
            </a:r>
            <a:r>
              <a:rPr lang="zh-CN" altLang="en-US"/>
              <a:t>信号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LLM</a:t>
            </a:r>
            <a:r>
              <a:rPr lang="zh-CN" altLang="en-US"/>
              <a:t>（大语言模型）：理解处理后的多模态</a:t>
            </a:r>
            <a:r>
              <a:rPr lang="zh-CN" altLang="en-US"/>
              <a:t>信息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connector(</a:t>
            </a:r>
            <a:r>
              <a:rPr lang="zh-CN" altLang="en-US"/>
              <a:t>模态接口</a:t>
            </a:r>
            <a:r>
              <a:rPr lang="en-US" altLang="zh-CN"/>
              <a:t>) :</a:t>
            </a:r>
            <a:r>
              <a:rPr lang="zh-CN" altLang="en-US"/>
              <a:t>对齐不同</a:t>
            </a:r>
            <a:r>
              <a:rPr lang="zh-CN" altLang="en-US"/>
              <a:t>模态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Generator</a:t>
            </a:r>
            <a:r>
              <a:rPr lang="zh-CN" altLang="en-US"/>
              <a:t>（生成器）：用于生成文本之外的</a:t>
            </a:r>
            <a:r>
              <a:rPr lang="zh-CN" altLang="en-US"/>
              <a:t>信息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研究背景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19"/>
          <p:cNvSpPr/>
          <p:nvPr/>
        </p:nvSpPr>
        <p:spPr>
          <a:xfrm>
            <a:off x="797560" y="1245235"/>
            <a:ext cx="10628630" cy="45694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代表模型及应用</a:t>
            </a:r>
            <a:endParaRPr lang="en-US"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ChatGPT、Llama、通义千问等多模态大模型在智能创作、AI数字人等场景广泛应用，能融合文本、图像、音频等多模态信息处理。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安全挑战凸显</a:t>
            </a: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三星芯片代码泄露、OpenAI服务中断等事件频发，深度神经网络固有缺陷与多模态特有风险叠加，安全挑战日益凸显。</a:t>
            </a: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研究意义</a:t>
            </a:r>
            <a:endParaRPr lang="en-U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保障模型可靠性，防止恶意利用，维护知识产权和伦理边界</a:t>
            </a:r>
            <a:r>
              <a:rPr lang="zh-CN" alt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。但这个定义没有区别于</a:t>
            </a:r>
            <a:r>
              <a:rPr lang="en-US" altLang="zh-CN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AI</a:t>
            </a:r>
            <a:r>
              <a:rPr lang="zh-CN" alt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安全，没有体现</a:t>
            </a:r>
            <a:r>
              <a:rPr lang="en-US" altLang="zh-CN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“</a:t>
            </a:r>
            <a:r>
              <a:rPr lang="zh-CN" alt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多模态</a:t>
            </a:r>
            <a:r>
              <a:rPr lang="en-US" altLang="zh-CN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”</a:t>
            </a:r>
            <a:endParaRPr lang="en-US" sz="16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/>
              <a:t>但总的来说，多模态</a:t>
            </a:r>
            <a:r>
              <a:rPr lang="en-US" altLang="zh-CN" sz="1600" dirty="0"/>
              <a:t>AI</a:t>
            </a:r>
            <a:r>
              <a:rPr lang="zh-CN" altLang="en-US" sz="1600" dirty="0"/>
              <a:t>安全区别于</a:t>
            </a:r>
            <a:r>
              <a:rPr lang="en-US" altLang="zh-CN" sz="1600" dirty="0"/>
              <a:t>AI</a:t>
            </a:r>
            <a:r>
              <a:rPr lang="zh-CN" altLang="en-US" sz="1600" dirty="0"/>
              <a:t>安全，仍然是区别于</a:t>
            </a:r>
            <a:r>
              <a:rPr lang="en-US" altLang="zh-CN" sz="1600" dirty="0"/>
              <a:t>“</a:t>
            </a:r>
            <a:r>
              <a:rPr lang="zh-CN" altLang="en-US" sz="1600" dirty="0"/>
              <a:t>多模态</a:t>
            </a:r>
            <a:r>
              <a:rPr lang="en-US" altLang="zh-CN" sz="1600" dirty="0"/>
              <a:t>”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600" dirty="0"/>
              <a:t>多模态</a:t>
            </a:r>
            <a:r>
              <a:rPr lang="en-US" altLang="zh-CN" sz="1600" dirty="0"/>
              <a:t>AI</a:t>
            </a:r>
            <a:r>
              <a:rPr lang="zh-CN" altLang="en-US" sz="1600" dirty="0"/>
              <a:t>安全要</a:t>
            </a:r>
            <a:r>
              <a:rPr lang="zh-CN" altLang="en-US" sz="1600" dirty="0"/>
              <a:t>应对</a:t>
            </a:r>
            <a:endParaRPr lang="zh-CN" altLang="en-US" sz="16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600" dirty="0"/>
              <a:t>1.</a:t>
            </a:r>
            <a:r>
              <a:rPr lang="en-US" altLang="zh-CN" sz="1600" b="1" dirty="0"/>
              <a:t>AI</a:t>
            </a:r>
            <a:r>
              <a:rPr lang="zh-CN" altLang="en-US" sz="1600" b="1" dirty="0"/>
              <a:t>安全本身的问题</a:t>
            </a:r>
            <a:r>
              <a:rPr lang="en-US" altLang="zh-CN" sz="1600" b="1" dirty="0"/>
              <a:t> </a:t>
            </a:r>
            <a:r>
              <a:rPr lang="en-US" altLang="zh-CN" sz="1600" dirty="0"/>
              <a:t>    2.</a:t>
            </a:r>
            <a:r>
              <a:rPr lang="zh-CN" altLang="en-US" sz="1600" b="1" dirty="0"/>
              <a:t>多模态带来的新的</a:t>
            </a:r>
            <a:r>
              <a:rPr lang="en-US" altLang="zh-CN" sz="1600" b="1" dirty="0"/>
              <a:t>“</a:t>
            </a:r>
            <a:r>
              <a:rPr lang="zh-CN" altLang="en-US" sz="1600" b="1" dirty="0"/>
              <a:t>不安全</a:t>
            </a:r>
            <a:r>
              <a:rPr lang="en-US" altLang="zh-CN" sz="1600" b="1" dirty="0"/>
              <a:t>”</a:t>
            </a:r>
            <a:endParaRPr lang="en-US" altLang="zh-CN" sz="16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/>
          <p:cNvSpPr/>
          <p:nvPr/>
        </p:nvSpPr>
        <p:spPr>
          <a:xfrm>
            <a:off x="272981" y="308164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6096000" y="2248071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0" y="3140931"/>
            <a:ext cx="332465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</a:t>
            </a:r>
            <a:r>
              <a:rPr lang="zh-CN" altLang="en-US" sz="48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现状</a:t>
            </a:r>
            <a:endParaRPr lang="zh-CN" altLang="en-US" sz="48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</p:txBody>
      </p:sp>
      <p:pic>
        <p:nvPicPr>
          <p:cNvPr id="9" name="Picture 8" descr="77-南京航空航天大学-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882" y="1922085"/>
            <a:ext cx="2851218" cy="28512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未命名绘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965" y="1442085"/>
            <a:ext cx="7647305" cy="42056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/>
          <p:cNvSpPr/>
          <p:nvPr/>
        </p:nvSpPr>
        <p:spPr>
          <a:xfrm>
            <a:off x="272980" y="308163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本占位符 4"/>
          <p:cNvSpPr txBox="1"/>
          <p:nvPr/>
        </p:nvSpPr>
        <p:spPr>
          <a:xfrm>
            <a:off x="565150" y="5887163"/>
            <a:ext cx="2228850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5" name="文本占位符 5"/>
          <p:cNvSpPr txBox="1"/>
          <p:nvPr/>
        </p:nvSpPr>
        <p:spPr>
          <a:xfrm>
            <a:off x="3249747" y="5887163"/>
            <a:ext cx="2433461" cy="341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65150" y="1391285"/>
            <a:ext cx="113538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为什么多模态会带来新的</a:t>
            </a:r>
            <a:r>
              <a:rPr lang="zh-CN" altLang="en-US"/>
              <a:t>安全？</a:t>
            </a:r>
            <a:endParaRPr lang="zh-CN" altLang="en-US"/>
          </a:p>
          <a:p>
            <a:r>
              <a:rPr lang="en-US" altLang="zh-CN"/>
              <a:t>——</a:t>
            </a:r>
            <a:r>
              <a:rPr lang="zh-CN" altLang="en-US"/>
              <a:t>即带来了新的</a:t>
            </a:r>
            <a:r>
              <a:rPr lang="zh-CN" altLang="en-US"/>
              <a:t>攻击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多模态的</a:t>
            </a:r>
            <a:r>
              <a:rPr lang="en-US" altLang="zh-CN"/>
              <a:t>“</a:t>
            </a:r>
            <a:r>
              <a:rPr lang="zh-CN" altLang="en-US"/>
              <a:t>多</a:t>
            </a:r>
            <a:r>
              <a:rPr lang="en-US" altLang="zh-CN"/>
              <a:t>”</a:t>
            </a:r>
            <a:r>
              <a:rPr lang="zh-CN" altLang="en-US"/>
              <a:t>带来</a:t>
            </a:r>
            <a:r>
              <a:rPr lang="zh-CN" altLang="en-US"/>
              <a:t>的：</a:t>
            </a:r>
            <a:endParaRPr lang="zh-CN" altLang="en-US"/>
          </a:p>
          <a:p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sym typeface="+mn-ea"/>
              </a:rPr>
              <a:t>1.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sym typeface="+mn-ea"/>
              </a:rPr>
              <a:t>攻击面扩大与漏洞多样</a:t>
            </a:r>
            <a:endParaRPr lang="zh-CN" altLang="en-US" b="1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>
                <a:sym typeface="+mn-ea"/>
              </a:rPr>
              <a:t>多模态系统需处理多种数据类型（文本、图像、音频等），每种模态均有独特的漏洞（如对抗样本攻击、数据投毒）。攻击者可利用任一模态的弱点渗透整个系统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多模态本身特性带来的：</a:t>
            </a:r>
            <a:endParaRPr lang="zh-CN" altLang="en-US">
              <a:sym typeface="+mn-ea"/>
            </a:endParaRPr>
          </a:p>
          <a:p>
            <a:r>
              <a:rPr lang="zh-CN" altLang="en-US" b="1">
                <a:solidFill>
                  <a:schemeClr val="accent6">
                    <a:lumMod val="75000"/>
                  </a:schemeClr>
                </a:solidFill>
                <a:sym typeface="+mn-ea"/>
              </a:rPr>
              <a:t>2.跨模态攻击</a:t>
            </a:r>
            <a:endParaRPr lang="zh-CN" altLang="en-US" b="1">
              <a:solidFill>
                <a:schemeClr val="accent6">
                  <a:lumMod val="75000"/>
                </a:schemeClr>
              </a:solidFill>
              <a:sym typeface="+mn-ea"/>
            </a:endParaRPr>
          </a:p>
          <a:p>
            <a:r>
              <a:rPr lang="zh-CN" altLang="en-US">
                <a:sym typeface="+mn-ea"/>
              </a:rPr>
              <a:t>模态间依赖关系</a:t>
            </a:r>
            <a:r>
              <a:rPr lang="en-US" altLang="zh-CN">
                <a:sym typeface="+mn-ea"/>
              </a:rPr>
              <a:t>​</a:t>
            </a:r>
            <a:r>
              <a:rPr lang="zh-CN" altLang="en-US">
                <a:sym typeface="+mn-ea"/>
              </a:rPr>
              <a:t>：攻击者利用一种模态的漏洞影响其他模态。例如，文本过滤系统可能被音频或图像中的恶意指令绕过。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​SIUO</a:t>
            </a:r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​</a:t>
            </a:r>
            <a:r>
              <a:rPr lang="zh-CN" altLang="en-US">
                <a:sym typeface="+mn-ea"/>
              </a:rPr>
              <a:t>：安全输入组合后产生不安全输出（如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高楼风景图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鼓励探索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被理解为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跳楼暗示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，导致模型输出危险回应）</a:t>
            </a:r>
            <a:endParaRPr lang="zh-CN" altLang="en-US">
              <a:sym typeface="+mn-ea"/>
            </a:endParaRPr>
          </a:p>
          <a:p>
            <a:r>
              <a:rPr lang="en-US" altLang="zh-CN"/>
              <a:t>3.</a:t>
            </a:r>
            <a:r>
              <a:rPr lang="zh-CN" altLang="en-US"/>
              <a:t>复杂性增加导致盲区</a:t>
            </a:r>
            <a:r>
              <a:rPr lang="zh-CN" altLang="en-US"/>
              <a:t>增加</a:t>
            </a:r>
            <a:endParaRPr lang="zh-CN" altLang="en-US"/>
          </a:p>
          <a:p>
            <a:r>
              <a:rPr lang="en-US" altLang="zh-CN">
                <a:sym typeface="+mn-ea"/>
              </a:rPr>
              <a:t>​</a:t>
            </a:r>
            <a:r>
              <a:rPr lang="zh-CN" altLang="en-US">
                <a:sym typeface="+mn-ea"/>
              </a:rPr>
              <a:t>模态对齐缺陷</a:t>
            </a:r>
            <a:r>
              <a:rPr lang="en-US" altLang="zh-CN">
                <a:sym typeface="+mn-ea"/>
              </a:rPr>
              <a:t>​</a:t>
            </a:r>
            <a:r>
              <a:rPr lang="zh-CN" altLang="en-US">
                <a:sym typeface="+mn-ea"/>
              </a:rPr>
              <a:t>：模型在整合多模态信息时可能出现语义偏差（如无法识别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消毒液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清洁剂混合产生毒气</a:t>
            </a:r>
            <a:r>
              <a:rPr lang="en-US" altLang="zh-CN">
                <a:sym typeface="+mn-ea"/>
              </a:rPr>
              <a:t>"</a:t>
            </a:r>
            <a:r>
              <a:rPr lang="zh-CN" altLang="en-US">
                <a:sym typeface="+mn-ea"/>
              </a:rPr>
              <a:t>的危险性）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67740" y="1360170"/>
            <a:ext cx="101231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 ​</a:t>
            </a:r>
            <a:r>
              <a:rPr lang="zh-CN" altLang="en-US"/>
              <a:t>关联性隐私</a:t>
            </a:r>
            <a:endParaRPr lang="zh-CN" altLang="en-US"/>
          </a:p>
          <a:p>
            <a:r>
              <a:rPr lang="zh-CN" altLang="en-US">
                <a:sym typeface="+mn-ea"/>
              </a:rPr>
              <a:t>多模信息在时间、空间上的组合带来更多的隐私（人脸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声纹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位置得到个人</a:t>
            </a:r>
            <a:r>
              <a:rPr lang="zh-CN" altLang="en-US">
                <a:sym typeface="+mn-ea"/>
              </a:rPr>
              <a:t>身份）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匿名化和隐私消除技术面临更大挑战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5. ​</a:t>
            </a:r>
            <a:r>
              <a:rPr lang="zh-CN" altLang="en-US"/>
              <a:t>新型攻击向量涌现</a:t>
            </a:r>
            <a:r>
              <a:rPr lang="en-US" altLang="zh-CN"/>
              <a:t>​</a:t>
            </a:r>
            <a:endParaRPr lang="en-US" altLang="zh-CN"/>
          </a:p>
          <a:p>
            <a:r>
              <a:rPr lang="en-US" altLang="zh-CN"/>
              <a:t>​</a:t>
            </a:r>
            <a:r>
              <a:rPr lang="zh-CN" altLang="en-US"/>
              <a:t>混合攻击（</a:t>
            </a:r>
            <a:r>
              <a:rPr lang="en-US" altLang="zh-CN"/>
              <a:t>Hybrid Attacks</a:t>
            </a:r>
            <a:r>
              <a:rPr lang="zh-CN" altLang="en-US"/>
              <a:t>）</a:t>
            </a:r>
            <a:r>
              <a:rPr lang="en-US" altLang="zh-CN"/>
              <a:t>​​</a:t>
            </a:r>
            <a:r>
              <a:rPr lang="zh-CN" altLang="en-US"/>
              <a:t>：攻击者协调多模态输入实现攻击目标（如深度伪造视频</a:t>
            </a:r>
            <a:r>
              <a:rPr lang="en-US" altLang="zh-CN"/>
              <a:t>+</a:t>
            </a:r>
            <a:r>
              <a:rPr lang="zh-CN" altLang="en-US"/>
              <a:t>语音合成欺骗身份验证系统）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​</a:t>
            </a:r>
            <a:r>
              <a:rPr lang="zh-CN" altLang="en-US"/>
              <a:t>数据投毒跨模态传播</a:t>
            </a:r>
            <a:r>
              <a:rPr lang="en-US" altLang="zh-CN"/>
              <a:t>​</a:t>
            </a:r>
            <a:r>
              <a:rPr lang="zh-CN" altLang="en-US"/>
              <a:t>：一种模态的污染数据可影响其他模态的处理结果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。。。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387215" y="367030"/>
            <a:ext cx="4841240" cy="54356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4481830" y="1158875"/>
            <a:ext cx="7907020" cy="1082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12700" indent="0" algn="l" rtl="0" eaLnBrk="0" fontAlgn="auto">
              <a:lnSpc>
                <a:spcPct val="100000"/>
              </a:lnSpc>
            </a:pPr>
            <a:r>
              <a:rPr b="1" kern="0" spc="120" dirty="0">
                <a:solidFill>
                  <a:srgbClr val="00B05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木桶理论</a:t>
            </a:r>
            <a:r>
              <a:rPr b="1" kern="0" spc="12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</a:t>
            </a:r>
            <a:r>
              <a:rPr b="1" kern="0" spc="-42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b="1" kern="0" spc="12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视觉模态的引</a:t>
            </a:r>
            <a:r>
              <a:rPr b="1" kern="0" spc="11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入增加了攻击面</a:t>
            </a:r>
            <a:endParaRPr b="1" kern="0" spc="11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indent="0" algn="l" rtl="0" eaLnBrk="0" fontAlgn="auto">
              <a:lnSpc>
                <a:spcPct val="100000"/>
              </a:lnSpc>
            </a:pPr>
            <a:endParaRPr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4605" indent="0" algn="l" rtl="0" eaLnBrk="0" fontAlgn="auto">
              <a:lnSpc>
                <a:spcPct val="100000"/>
              </a:lnSpc>
            </a:pPr>
            <a:r>
              <a:rPr b="1" kern="0" spc="12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视觉模态、</a:t>
            </a:r>
            <a:r>
              <a:rPr b="1" kern="0" spc="-56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b="1" kern="0" spc="12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文本模态均可以用于</a:t>
            </a:r>
            <a:r>
              <a:rPr b="1" kern="0" spc="11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攻击</a:t>
            </a:r>
            <a:endParaRPr b="1" kern="0" spc="11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755650" y="1875790"/>
            <a:ext cx="10238105" cy="165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 fontAlgn="auto">
              <a:lnSpc>
                <a:spcPct val="100000"/>
              </a:lnSpc>
            </a:pPr>
            <a:endParaRPr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1590" algn="l" rtl="0" eaLnBrk="0" fontAlgn="auto">
              <a:lnSpc>
                <a:spcPct val="100000"/>
              </a:lnSpc>
            </a:pPr>
            <a:r>
              <a:rPr b="1" kern="0" spc="11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视觉模态</a:t>
            </a:r>
            <a:endParaRPr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12700" indent="45085" algn="l" rtl="0" eaLnBrk="0" fontAlgn="auto">
              <a:lnSpc>
                <a:spcPct val="100000"/>
              </a:lnSpc>
              <a:spcBef>
                <a:spcPts val="1415"/>
              </a:spcBef>
            </a:pPr>
            <a:r>
              <a:rPr kern="0" spc="9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图像损坏：</a:t>
            </a:r>
            <a:r>
              <a:rPr kern="0" spc="-4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spc="9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对图像的一系列应</a:t>
            </a:r>
            <a:r>
              <a:rPr kern="0" spc="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用扭曲，</a:t>
            </a:r>
            <a:r>
              <a:rPr kern="0" spc="-59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spc="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包括噪声、</a:t>
            </a:r>
            <a:r>
              <a:rPr kern="0" spc="11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模糊、天气影响和数字扭曲</a:t>
            </a:r>
            <a:endParaRPr kern="0" spc="11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12700" indent="45085" algn="l" rtl="0" eaLnBrk="0" fontAlgn="auto">
              <a:lnSpc>
                <a:spcPct val="100000"/>
              </a:lnSpc>
              <a:spcBef>
                <a:spcPts val="1415"/>
              </a:spcBef>
            </a:pPr>
            <a:endParaRPr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9845" algn="l" rtl="0" eaLnBrk="0" fontAlgn="auto">
              <a:lnSpc>
                <a:spcPct val="100000"/>
              </a:lnSpc>
              <a:spcBef>
                <a:spcPts val="875"/>
              </a:spcBef>
            </a:pPr>
            <a:r>
              <a:rPr b="1" kern="0" spc="9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文本模态</a:t>
            </a:r>
            <a:endParaRPr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36195" indent="-10160" algn="l" rtl="0" eaLnBrk="0" fontAlgn="auto">
              <a:lnSpc>
                <a:spcPct val="100000"/>
              </a:lnSpc>
              <a:spcBef>
                <a:spcPts val="970"/>
              </a:spcBef>
            </a:pP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Character</a:t>
            </a:r>
            <a:r>
              <a:rPr kern="0" spc="6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-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level</a:t>
            </a:r>
            <a:r>
              <a:rPr kern="0" spc="6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：</a:t>
            </a:r>
            <a:r>
              <a:rPr kern="0" spc="-46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TextBugger</a:t>
            </a:r>
            <a:r>
              <a:rPr kern="0" spc="6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kern="0" spc="-50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DeepWordBug</a:t>
            </a:r>
            <a:r>
              <a:rPr kern="0" spc="6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Pruthi</a:t>
            </a:r>
            <a:r>
              <a:rPr kern="0" spc="46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kern="0" spc="46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36195" indent="-10160" algn="l" rtl="0" eaLnBrk="0" fontAlgn="auto">
              <a:lnSpc>
                <a:spcPct val="100000"/>
              </a:lnSpc>
              <a:spcBef>
                <a:spcPts val="970"/>
              </a:spcBef>
            </a:pPr>
            <a:endParaRPr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" indent="-5080" algn="l" rtl="0" eaLnBrk="0" fontAlgn="auto">
              <a:lnSpc>
                <a:spcPct val="100000"/>
              </a:lnSpc>
              <a:spcBef>
                <a:spcPts val="605"/>
              </a:spcBef>
            </a:pP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Word</a:t>
            </a:r>
            <a:r>
              <a:rPr kern="0" spc="55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-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level</a:t>
            </a:r>
            <a:r>
              <a:rPr kern="0" spc="55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:</a:t>
            </a:r>
            <a:r>
              <a:rPr kern="0" spc="3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BertAttack</a:t>
            </a:r>
            <a:r>
              <a:rPr kern="0" spc="55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TextFooler</a:t>
            </a:r>
            <a:r>
              <a:rPr lang="zh-CN"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kern="0" spc="-50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Pwws</a:t>
            </a:r>
            <a:r>
              <a:rPr kern="0" spc="-4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zh-CN" kern="0" spc="-4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endParaRPr lang="zh-CN" kern="0" spc="-48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28575" indent="-5080" algn="l" rtl="0" eaLnBrk="0" fontAlgn="auto">
              <a:lnSpc>
                <a:spcPct val="100000"/>
              </a:lnSpc>
              <a:spcBef>
                <a:spcPts val="605"/>
              </a:spcBef>
            </a:pPr>
            <a:endParaRPr lang="zh-CN" kern="0" spc="-48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28575" indent="-5080" algn="l" rtl="0" eaLnBrk="0" fontAlgn="auto">
              <a:lnSpc>
                <a:spcPct val="100000"/>
              </a:lnSpc>
              <a:spcBef>
                <a:spcPts val="605"/>
              </a:spcBef>
            </a:pPr>
            <a:r>
              <a:rPr kern="0" spc="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Setence-level: StressTest、</a:t>
            </a:r>
            <a:r>
              <a:rPr kern="0" spc="-5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spc="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CheckList、</a:t>
            </a:r>
            <a:r>
              <a:rPr kern="0" spc="-50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spc="8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In</a:t>
            </a:r>
            <a:r>
              <a:rPr kern="0" spc="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put-</a:t>
            </a:r>
            <a:r>
              <a:rPr kern="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kern="0" spc="7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reduction</a:t>
            </a:r>
            <a:endParaRPr kern="0" spc="7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28575" indent="-5080" algn="l" rtl="0" eaLnBrk="0" fontAlgn="auto">
              <a:lnSpc>
                <a:spcPct val="100000"/>
              </a:lnSpc>
              <a:spcBef>
                <a:spcPts val="605"/>
              </a:spcBef>
            </a:pPr>
            <a:endParaRPr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9210" algn="l" rtl="0" eaLnBrk="0" fontAlgn="auto">
              <a:lnSpc>
                <a:spcPct val="100000"/>
              </a:lnSpc>
              <a:spcBef>
                <a:spcPts val="5"/>
              </a:spcBef>
            </a:pPr>
            <a:r>
              <a:rPr kern="0" spc="10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Semantic-level..</a:t>
            </a:r>
            <a:r>
              <a:rPr kern="0" spc="90" dirty="0">
                <a:solidFill>
                  <a:schemeClr val="tx1">
                    <a:alpha val="10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.</a:t>
            </a:r>
            <a:endParaRPr kern="0" spc="90" dirty="0">
              <a:solidFill>
                <a:schemeClr val="tx1">
                  <a:alpha val="10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80135" y="1535430"/>
            <a:ext cx="35496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tx1"/>
                </a:solidFill>
              </a:rPr>
              <a:t>跨模态</a:t>
            </a:r>
            <a:endParaRPr lang="zh-CN" altLang="en-US" sz="4000" b="1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533650"/>
            <a:ext cx="86220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干扰输入</a:t>
            </a:r>
            <a:endParaRPr lang="zh-CN" alt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r>
              <a:rPr lang="zh-CN" alt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传统对抗样本生成技术：最大化有害输出概率、计算图像对抗扰动、</a:t>
            </a:r>
            <a:r>
              <a:rPr lang="zh-CN" alt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特定区域嵌入</a:t>
            </a:r>
            <a:endParaRPr lang="zh-CN" alt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r>
              <a:rPr lang="zh-CN" alt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损害信息交互</a:t>
            </a:r>
            <a:endParaRPr lang="zh-CN" alt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r>
              <a:rPr lang="zh-CN" alt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对抗样本的迁移性</a:t>
            </a:r>
            <a:endParaRPr lang="zh-CN" alt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endParaRPr lang="zh-CN" alt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r>
              <a:rPr lang="zh-CN" alt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损害模态信息交互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Co-Attack（图文联合扰动）是多模态协同攻击技术，</a:t>
            </a:r>
            <a:r>
              <a:rPr lang="zh-CN" altLang="en-US"/>
              <a:t>扰动后的多模态嵌入远离原始多模态嵌入实现协同扰动文本和图像，</a:t>
            </a:r>
            <a:r>
              <a:rPr lang="en-US" altLang="zh-CN"/>
              <a:t>BERT-Attack</a:t>
            </a:r>
            <a:r>
              <a:rPr lang="zh-CN" altLang="en-US"/>
              <a:t>生成文本扰动，然后将文本扰动作为文本输入，采用类</a:t>
            </a:r>
            <a:r>
              <a:rPr lang="en-US" altLang="zh-CN"/>
              <a:t>PGD</a:t>
            </a:r>
            <a:r>
              <a:rPr lang="zh-CN" altLang="en-US"/>
              <a:t>生成图像扰动。</a:t>
            </a:r>
            <a:endParaRPr lang="en-US" altLang="zh-CN"/>
          </a:p>
          <a:p>
            <a:r>
              <a:rPr lang="zh-CN" altLang="en-US"/>
              <a:t>集合级引导攻击：通过拉远图像</a:t>
            </a:r>
            <a:r>
              <a:rPr lang="en-US" altLang="zh-CN"/>
              <a:t>-</a:t>
            </a:r>
            <a:r>
              <a:rPr lang="zh-CN" altLang="en-US"/>
              <a:t>文本破坏模态交互，提高对抗样本的</a:t>
            </a:r>
            <a:r>
              <a:rPr lang="zh-CN" altLang="en-US"/>
              <a:t>可迁移性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4"/>
          <p:cNvSpPr/>
          <p:nvPr/>
        </p:nvSpPr>
        <p:spPr>
          <a:xfrm>
            <a:off x="951865" y="3429000"/>
            <a:ext cx="7665085" cy="62293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防御方案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样本检测</a:t>
            </a:r>
            <a:endParaRPr lang="en-US" sz="1600" b="1" dirty="0">
              <a:solidFill>
                <a:srgbClr val="4874CB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困惑度过滤，通过检测输入样本的</a:t>
            </a:r>
            <a:r>
              <a:rPr lang="zh-CN" alt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模型</a:t>
            </a:r>
            <a:r>
              <a:rPr 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困惑度，识别异常样本，阻止攻击。</a:t>
            </a:r>
            <a:endParaRPr lang="en-US" sz="16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输入重构</a:t>
            </a:r>
            <a:endParaRPr lang="en-US" sz="1600" b="1" dirty="0">
              <a:solidFill>
                <a:srgbClr val="4874CB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对抗样本往往是进行构造的</a:t>
            </a:r>
            <a:endParaRPr lang="en-US" sz="1600" dirty="0">
              <a:solidFill>
                <a:schemeClr val="accent6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随机丢弃，随机丢弃部分输入信息，降低攻击对模型的影响，增强模型鲁棒性。</a:t>
            </a:r>
            <a:endParaRPr lang="en-US" sz="16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对抗微调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ALUM训练框架，通过对抗训练提升模型对攻击的防御能力，增强模型安全性。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文本框 6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796030" y="1041400"/>
            <a:ext cx="3830320" cy="9137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85870" y="2388870"/>
            <a:ext cx="4372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模型越狱</a:t>
            </a:r>
            <a:r>
              <a:rPr lang="zh-CN" altLang="en-US"/>
              <a:t>攻击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第一章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发展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现状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1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: 圆角 2"/>
          <p:cNvSpPr/>
          <p:nvPr/>
        </p:nvSpPr>
        <p:spPr>
          <a:xfrm>
            <a:off x="272981" y="308799"/>
            <a:ext cx="11646039" cy="6241673"/>
          </a:xfrm>
          <a:prstGeom prst="roundRect">
            <a:avLst>
              <a:gd name="adj" fmla="val 3728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框 3"/>
          <p:cNvSpPr txBox="1"/>
          <p:nvPr/>
        </p:nvSpPr>
        <p:spPr>
          <a:xfrm>
            <a:off x="797412" y="760357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二章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29635" y="760357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研究</a:t>
            </a:r>
            <a:r>
              <a:rPr lang="zh-CN" altLang="en-US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sym typeface="+mn-ea"/>
              </a:rPr>
              <a:t>现状</a:t>
            </a:r>
            <a:endParaRPr lang="zh-CN" altLang="en-US" sz="20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502" y="424639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对比</a:t>
            </a:r>
            <a:r>
              <a:rPr lang="zh-CN" altLang="en-US" sz="16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实验</a:t>
            </a:r>
            <a:endParaRPr lang="zh-CN" altLang="en-US" sz="16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842505" y="910273"/>
            <a:ext cx="0" cy="1310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Shape 1"/>
          <p:cNvSpPr/>
          <p:nvPr/>
        </p:nvSpPr>
        <p:spPr>
          <a:xfrm>
            <a:off x="260985" y="163195"/>
            <a:ext cx="1071245" cy="553720"/>
          </a:xfrm>
          <a:prstGeom prst="roundRect">
            <a:avLst/>
          </a:prstGeom>
          <a:gradFill flip="none" rotWithShape="1">
            <a:gsLst>
              <a:gs pos="20000">
                <a:srgbClr val="4874CB">
                  <a:alpha val="65000"/>
                </a:srgbClr>
              </a:gs>
              <a:gs pos="43000">
                <a:srgbClr val="4874CB">
                  <a:alpha val="54000"/>
                </a:srgbClr>
              </a:gs>
              <a:gs pos="63000">
                <a:srgbClr val="4874CB">
                  <a:alpha val="16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93" name="Text 2"/>
          <p:cNvSpPr/>
          <p:nvPr/>
        </p:nvSpPr>
        <p:spPr>
          <a:xfrm>
            <a:off x="260985" y="163195"/>
            <a:ext cx="1071245" cy="553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4" name="Image 0" descr="https://kimi-img.moonshot.cn/pub/slides/slides_tmpl/image/25-06-01-00:29:44-d0tisu475iks2gau4ocg.png"/>
          <p:cNvPicPr>
            <a:picLocks noChangeAspect="1"/>
          </p:cNvPicPr>
          <p:nvPr/>
        </p:nvPicPr>
        <p:blipFill>
          <a:blip r:embed="rId1">
            <a:alphaModFix amt="74000"/>
          </a:blip>
          <a:srcRect l="128" t="55116" r="-128" b="-2787"/>
          <a:stretch>
            <a:fillRect/>
          </a:stretch>
        </p:blipFill>
        <p:spPr>
          <a:xfrm>
            <a:off x="5582285" y="0"/>
            <a:ext cx="6927215" cy="1857375"/>
          </a:xfrm>
          <a:prstGeom prst="rect">
            <a:avLst/>
          </a:prstGeom>
        </p:spPr>
      </p:pic>
      <p:sp>
        <p:nvSpPr>
          <p:cNvPr id="95" name="Shape 3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flip="none" rotWithShape="1">
            <a:gsLst>
              <a:gs pos="20000">
                <a:srgbClr val="4874CB">
                  <a:alpha val="83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7000"/>
                </a:srgbClr>
              </a:gs>
            </a:gsLst>
            <a:lin ang="0" scaled="1"/>
          </a:gradFill>
        </p:spPr>
      </p:sp>
      <p:sp>
        <p:nvSpPr>
          <p:cNvPr id="96" name="Text 4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7" name="Shape 5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98" name="Text 6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9" name="Shape 7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flip="none" rotWithShape="1">
            <a:gsLst>
              <a:gs pos="20000">
                <a:srgbClr val="4874CB">
                  <a:alpha val="83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7000"/>
                </a:srgbClr>
              </a:gs>
            </a:gsLst>
            <a:lin ang="0" scaled="1"/>
          </a:gradFill>
        </p:spPr>
      </p:sp>
      <p:sp>
        <p:nvSpPr>
          <p:cNvPr id="100" name="Text 8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1" name="Text 9"/>
          <p:cNvSpPr/>
          <p:nvPr>
            <p:custDataLst>
              <p:tags r:id="rId2"/>
            </p:custDataLst>
          </p:nvPr>
        </p:nvSpPr>
        <p:spPr>
          <a:xfrm>
            <a:off x="923049" y="1326083"/>
            <a:ext cx="4770337" cy="467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B5C7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102" name="Shape 10"/>
          <p:cNvSpPr/>
          <p:nvPr>
            <p:custDataLst>
              <p:tags r:id="rId3"/>
            </p:custDataLst>
          </p:nvPr>
        </p:nvSpPr>
        <p:spPr>
          <a:xfrm>
            <a:off x="923049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3" name="Text 11"/>
          <p:cNvSpPr/>
          <p:nvPr>
            <p:custDataLst>
              <p:tags r:id="rId4"/>
            </p:custDataLst>
          </p:nvPr>
        </p:nvSpPr>
        <p:spPr>
          <a:xfrm>
            <a:off x="923049" y="1905071"/>
            <a:ext cx="4770847" cy="36896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对抗攻击</a:t>
            </a:r>
            <a:endParaRPr lang="en-US" sz="1600" dirty="0"/>
          </a:p>
        </p:txBody>
      </p:sp>
      <p:sp>
        <p:nvSpPr>
          <p:cNvPr id="104" name="Shape 12"/>
          <p:cNvSpPr/>
          <p:nvPr>
            <p:custDataLst>
              <p:tags r:id="rId5"/>
            </p:custDataLst>
          </p:nvPr>
        </p:nvSpPr>
        <p:spPr>
          <a:xfrm>
            <a:off x="923049" y="2325633"/>
            <a:ext cx="4770337" cy="120454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5" name="Text 13"/>
          <p:cNvSpPr/>
          <p:nvPr>
            <p:custDataLst>
              <p:tags r:id="rId6"/>
            </p:custDataLst>
          </p:nvPr>
        </p:nvSpPr>
        <p:spPr>
          <a:xfrm>
            <a:off x="923049" y="2325633"/>
            <a:ext cx="4770337" cy="1204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对抗攻击通过在输入数据中添加微小扰动，导致模型产生误判，如篡改路标误导自动驾驶，威胁交通安全。</a:t>
            </a:r>
            <a:endParaRPr lang="en-US" sz="1600" dirty="0"/>
          </a:p>
        </p:txBody>
      </p:sp>
      <p:sp>
        <p:nvSpPr>
          <p:cNvPr id="106" name="Text 14"/>
          <p:cNvSpPr/>
          <p:nvPr>
            <p:custDataLst>
              <p:tags r:id="rId7"/>
            </p:custDataLst>
          </p:nvPr>
        </p:nvSpPr>
        <p:spPr>
          <a:xfrm>
            <a:off x="922413" y="3917734"/>
            <a:ext cx="4771483" cy="467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B5C7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107" name="Shape 15"/>
          <p:cNvSpPr/>
          <p:nvPr>
            <p:custDataLst>
              <p:tags r:id="rId8"/>
            </p:custDataLst>
          </p:nvPr>
        </p:nvSpPr>
        <p:spPr>
          <a:xfrm>
            <a:off x="922413" y="4440732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8" name="Text 16"/>
          <p:cNvSpPr/>
          <p:nvPr>
            <p:custDataLst>
              <p:tags r:id="rId9"/>
            </p:custDataLst>
          </p:nvPr>
        </p:nvSpPr>
        <p:spPr>
          <a:xfrm>
            <a:off x="922413" y="4496086"/>
            <a:ext cx="4772338" cy="36896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越狱攻击</a:t>
            </a:r>
            <a:endParaRPr lang="en-US" sz="1600" dirty="0"/>
          </a:p>
        </p:txBody>
      </p:sp>
      <p:sp>
        <p:nvSpPr>
          <p:cNvPr id="109" name="Shape 17"/>
          <p:cNvSpPr/>
          <p:nvPr>
            <p:custDataLst>
              <p:tags r:id="rId10"/>
            </p:custDataLst>
          </p:nvPr>
        </p:nvSpPr>
        <p:spPr>
          <a:xfrm>
            <a:off x="922413" y="4926192"/>
            <a:ext cx="4771751" cy="120454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0" name="Text 18"/>
          <p:cNvSpPr/>
          <p:nvPr>
            <p:custDataLst>
              <p:tags r:id="rId11"/>
            </p:custDataLst>
          </p:nvPr>
        </p:nvSpPr>
        <p:spPr>
          <a:xfrm>
            <a:off x="922413" y="4926192"/>
            <a:ext cx="4771751" cy="1204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越狱攻击可绕过安全机制生成有害内容，如诱导模型生成暴力言论，破坏网络环境稳定，引发不良社会影响。</a:t>
            </a:r>
            <a:endParaRPr lang="en-US" sz="1600" dirty="0"/>
          </a:p>
        </p:txBody>
      </p:sp>
      <p:sp>
        <p:nvSpPr>
          <p:cNvPr id="111" name="Text 19"/>
          <p:cNvSpPr/>
          <p:nvPr>
            <p:custDataLst>
              <p:tags r:id="rId12"/>
            </p:custDataLst>
          </p:nvPr>
        </p:nvSpPr>
        <p:spPr>
          <a:xfrm>
            <a:off x="6531602" y="1326083"/>
            <a:ext cx="4771751" cy="467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B5C7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12" name="Shape 20"/>
          <p:cNvSpPr/>
          <p:nvPr>
            <p:custDataLst>
              <p:tags r:id="rId13"/>
            </p:custDataLst>
          </p:nvPr>
        </p:nvSpPr>
        <p:spPr>
          <a:xfrm>
            <a:off x="6531602" y="1849081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3" name="Text 21"/>
          <p:cNvSpPr/>
          <p:nvPr>
            <p:custDataLst>
              <p:tags r:id="rId14"/>
            </p:custDataLst>
          </p:nvPr>
        </p:nvSpPr>
        <p:spPr>
          <a:xfrm>
            <a:off x="6531602" y="1905071"/>
            <a:ext cx="4772965" cy="36896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后门攻击</a:t>
            </a:r>
            <a:endParaRPr lang="en-US" sz="1600" dirty="0"/>
          </a:p>
        </p:txBody>
      </p:sp>
      <p:sp>
        <p:nvSpPr>
          <p:cNvPr id="114" name="Shape 22"/>
          <p:cNvSpPr/>
          <p:nvPr>
            <p:custDataLst>
              <p:tags r:id="rId15"/>
            </p:custDataLst>
          </p:nvPr>
        </p:nvSpPr>
        <p:spPr>
          <a:xfrm>
            <a:off x="6531602" y="2325633"/>
            <a:ext cx="4771367" cy="120454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5" name="Text 23"/>
          <p:cNvSpPr/>
          <p:nvPr>
            <p:custDataLst>
              <p:tags r:id="rId16"/>
            </p:custDataLst>
          </p:nvPr>
        </p:nvSpPr>
        <p:spPr>
          <a:xfrm>
            <a:off x="6531602" y="2325633"/>
            <a:ext cx="4771367" cy="1204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后门攻击在训练阶段植入恶意触发器，如BadAgent代理后门，当触发条件满足时，模型行为被恶意操控。</a:t>
            </a:r>
            <a:endParaRPr lang="en-US" sz="1600" dirty="0"/>
          </a:p>
        </p:txBody>
      </p:sp>
      <p:sp>
        <p:nvSpPr>
          <p:cNvPr id="116" name="Text 24"/>
          <p:cNvSpPr/>
          <p:nvPr>
            <p:custDataLst>
              <p:tags r:id="rId17"/>
            </p:custDataLst>
          </p:nvPr>
        </p:nvSpPr>
        <p:spPr>
          <a:xfrm>
            <a:off x="6531602" y="3917734"/>
            <a:ext cx="4771483" cy="467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B5C7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117" name="Shape 25"/>
          <p:cNvSpPr/>
          <p:nvPr>
            <p:custDataLst>
              <p:tags r:id="rId18"/>
            </p:custDataLst>
          </p:nvPr>
        </p:nvSpPr>
        <p:spPr>
          <a:xfrm>
            <a:off x="6531602" y="4440732"/>
            <a:ext cx="4790218" cy="0"/>
          </a:xfrm>
          <a:prstGeom prst="line">
            <a:avLst/>
          </a:prstGeom>
          <a:noFill/>
          <a:ln w="12700">
            <a:solidFill>
              <a:srgbClr val="4874CB">
                <a:alpha val="6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8" name="Text 26"/>
          <p:cNvSpPr/>
          <p:nvPr>
            <p:custDataLst>
              <p:tags r:id="rId19"/>
            </p:custDataLst>
          </p:nvPr>
        </p:nvSpPr>
        <p:spPr>
          <a:xfrm>
            <a:off x="6531602" y="4496086"/>
            <a:ext cx="4771750" cy="36896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版权窃取</a:t>
            </a:r>
            <a:endParaRPr lang="en-US" sz="1600" dirty="0"/>
          </a:p>
        </p:txBody>
      </p:sp>
      <p:sp>
        <p:nvSpPr>
          <p:cNvPr id="119" name="Shape 27"/>
          <p:cNvSpPr/>
          <p:nvPr>
            <p:custDataLst>
              <p:tags r:id="rId20"/>
            </p:custDataLst>
          </p:nvPr>
        </p:nvSpPr>
        <p:spPr>
          <a:xfrm>
            <a:off x="6531602" y="4926192"/>
            <a:ext cx="4771751" cy="120454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0" name="Text 28"/>
          <p:cNvSpPr/>
          <p:nvPr>
            <p:custDataLst>
              <p:tags r:id="rId21"/>
            </p:custDataLst>
          </p:nvPr>
        </p:nvSpPr>
        <p:spPr>
          <a:xfrm>
            <a:off x="6531602" y="4926192"/>
            <a:ext cx="4771751" cy="1204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版权窃取表现为未经授权分发商业使用，模型参数盗用现象频发，严重损害开发者和企业利益。</a:t>
            </a:r>
            <a:endParaRPr lang="en-US" sz="1600" dirty="0"/>
          </a:p>
        </p:txBody>
      </p:sp>
      <p:sp>
        <p:nvSpPr>
          <p:cNvPr id="121" name="Shape 29"/>
          <p:cNvSpPr/>
          <p:nvPr/>
        </p:nvSpPr>
        <p:spPr>
          <a:xfrm>
            <a:off x="-3654425" y="6607175"/>
            <a:ext cx="7963535" cy="335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3000"/>
                </a:srgbClr>
              </a:gs>
              <a:gs pos="95000">
                <a:srgbClr val="6389D3">
                  <a:alpha val="38000"/>
                </a:srgbClr>
              </a:gs>
            </a:gsLst>
            <a:lin ang="0" scaled="1"/>
          </a:gradFill>
        </p:spPr>
      </p:sp>
      <p:sp>
        <p:nvSpPr>
          <p:cNvPr id="122" name="Text 30"/>
          <p:cNvSpPr/>
          <p:nvPr/>
        </p:nvSpPr>
        <p:spPr>
          <a:xfrm>
            <a:off x="-3654425" y="6607175"/>
            <a:ext cx="7963535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2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3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4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5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6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7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8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9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10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11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12.xml><?xml version="1.0" encoding="utf-8"?>
<p:tagLst xmlns:p="http://schemas.openxmlformats.org/presentationml/2006/main">
  <p:tag name="KSO_WM_DIAGRAM_VIRTUALLY_FRAME" val="{&quot;height&quot;:219.5267716535433,&quot;left&quot;:83.3331496062992,&quot;top&quot;:197.01346456692914,&quot;width&quot;:834.3225984251969}"/>
</p:tagLst>
</file>

<file path=ppt/tags/tag13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14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15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16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17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18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19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0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1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2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3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4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5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6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7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8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29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30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31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ags/tag32.xml><?xml version="1.0" encoding="utf-8"?>
<p:tagLst xmlns:p="http://schemas.openxmlformats.org/presentationml/2006/main">
  <p:tag name="KSO_WM_DIAGRAM_VIRTUALLY_FRAME" val="{&quot;height&quot;:378.31889763779526,&quot;left&quot;:72.63094488188976,&quot;top&quot;:104.41598425196851,&quot;width&quot;:818.850944881889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WPS 演示</Application>
  <PresentationFormat>宽屏</PresentationFormat>
  <Paragraphs>247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等线</vt:lpstr>
      <vt:lpstr>MiSans</vt:lpstr>
      <vt:lpstr>MiSans</vt:lpstr>
      <vt:lpstr>Arial</vt:lpstr>
      <vt:lpstr>Arial</vt:lpstr>
      <vt:lpstr>微软雅黑</vt:lpstr>
      <vt:lpstr>Arial Unicode MS</vt:lpstr>
      <vt:lpstr>等线 Light</vt:lpstr>
      <vt:lpstr>Calibri</vt:lpstr>
      <vt:lpstr>Arial</vt:lpstr>
      <vt:lpstr>PingFang SC</vt:lpstr>
      <vt:lpstr>Liberation Mono</vt:lpstr>
      <vt:lpstr>Thonburi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creator>淘宝店铺:想搞设计</dc:creator>
  <cp:keywords>淘宝店铺:想搞设计</cp:keywords>
  <dc:description>淘宝店铺:想搞设计</dc:description>
  <dc:subject>淘宝店铺:想搞设计</dc:subject>
  <cp:category>淘宝店铺:想搞设计</cp:category>
  <cp:lastModifiedBy>风絮</cp:lastModifiedBy>
  <cp:revision>49</cp:revision>
  <dcterms:created xsi:type="dcterms:W3CDTF">2020-07-29T06:33:00Z</dcterms:created>
  <dcterms:modified xsi:type="dcterms:W3CDTF">2025-07-09T15:20:03Z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9C0F9977FB584C4D9661CA33219DCE32_13</vt:lpwstr>
  </property>
</Properties>
</file>